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9" r:id="rId2"/>
    <p:sldId id="260" r:id="rId3"/>
    <p:sldId id="261" r:id="rId4"/>
  </p:sldIdLst>
  <p:sldSz cx="9144000" cy="6858000" type="screen4x3"/>
  <p:notesSz cx="6858000" cy="9144000"/>
  <p:defaultTextStyle>
    <a:defPPr>
      <a:defRPr lang="fr-FR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8289" autoAdjust="0"/>
  </p:normalViewPr>
  <p:slideViewPr>
    <p:cSldViewPr>
      <p:cViewPr>
        <p:scale>
          <a:sx n="150" d="100"/>
          <a:sy n="150" d="100"/>
        </p:scale>
        <p:origin x="-80" y="3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printerSettings" Target="printerSettings/printerSettings1.bin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6D0EE-ACDC-C245-8831-5E802E692B08}" type="datetimeFigureOut">
              <a:rPr lang="fr-FR" smtClean="0"/>
              <a:t>24/07/15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83B1E-4351-8E4D-8251-25557E09611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943582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6D0EE-ACDC-C245-8831-5E802E692B08}" type="datetimeFigureOut">
              <a:rPr lang="fr-FR" smtClean="0"/>
              <a:t>24/07/15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83B1E-4351-8E4D-8251-25557E09611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351640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6D0EE-ACDC-C245-8831-5E802E692B08}" type="datetimeFigureOut">
              <a:rPr lang="fr-FR" smtClean="0"/>
              <a:t>24/07/15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83B1E-4351-8E4D-8251-25557E09611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321926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6D0EE-ACDC-C245-8831-5E802E692B08}" type="datetimeFigureOut">
              <a:rPr lang="fr-FR" smtClean="0"/>
              <a:t>24/07/15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83B1E-4351-8E4D-8251-25557E09611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931929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6D0EE-ACDC-C245-8831-5E802E692B08}" type="datetimeFigureOut">
              <a:rPr lang="fr-FR" smtClean="0"/>
              <a:t>24/07/15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83B1E-4351-8E4D-8251-25557E09611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1747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6D0EE-ACDC-C245-8831-5E802E692B08}" type="datetimeFigureOut">
              <a:rPr lang="fr-FR" smtClean="0"/>
              <a:t>24/07/15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83B1E-4351-8E4D-8251-25557E09611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919783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6D0EE-ACDC-C245-8831-5E802E692B08}" type="datetimeFigureOut">
              <a:rPr lang="fr-FR" smtClean="0"/>
              <a:t>24/07/15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83B1E-4351-8E4D-8251-25557E09611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739714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6D0EE-ACDC-C245-8831-5E802E692B08}" type="datetimeFigureOut">
              <a:rPr lang="fr-FR" smtClean="0"/>
              <a:t>24/07/15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83B1E-4351-8E4D-8251-25557E09611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347268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pour une image 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6D0EE-ACDC-C245-8831-5E802E692B08}" type="datetimeFigureOut">
              <a:rPr lang="fr-FR" smtClean="0"/>
              <a:t>24/07/15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83B1E-4351-8E4D-8251-25557E09611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097144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6D0EE-ACDC-C245-8831-5E802E692B08}" type="datetimeFigureOut">
              <a:rPr lang="fr-FR" smtClean="0"/>
              <a:t>24/07/15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83B1E-4351-8E4D-8251-25557E09611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305044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6D0EE-ACDC-C245-8831-5E802E692B08}" type="datetimeFigureOut">
              <a:rPr lang="fr-FR" smtClean="0"/>
              <a:t>24/07/15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D83B1E-4351-8E4D-8251-25557E09611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060959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et modifiez le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06D0EE-ACDC-C245-8831-5E802E692B08}" type="datetimeFigureOut">
              <a:rPr lang="fr-FR" smtClean="0"/>
              <a:t>24/07/15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D83B1E-4351-8E4D-8251-25557E09611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844662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ZoneTexte 55"/>
          <p:cNvSpPr txBox="1">
            <a:spLocks noChangeArrowheads="1"/>
          </p:cNvSpPr>
          <p:nvPr/>
        </p:nvSpPr>
        <p:spPr bwMode="auto">
          <a:xfrm>
            <a:off x="4211960" y="2564904"/>
            <a:ext cx="473012" cy="338554"/>
          </a:xfrm>
          <a:prstGeom prst="rect">
            <a:avLst/>
          </a:prstGeom>
          <a:solidFill>
            <a:srgbClr val="FFFFFF"/>
          </a:solidFill>
          <a:ln>
            <a:noFill/>
          </a:ln>
          <a:extLst/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600" i="1" dirty="0" smtClean="0">
                <a:solidFill>
                  <a:srgbClr val="231F20"/>
                </a:solidFill>
                <a:latin typeface="Arial" charset="0"/>
                <a:ea typeface="ヒラギノ角ゴ Pro W3" charset="0"/>
                <a:cs typeface="ヒラギノ角ゴ Pro W3" charset="0"/>
                <a:sym typeface="Symbol" charset="0"/>
              </a:rPr>
              <a:t>r</a:t>
            </a:r>
            <a:r>
              <a:rPr lang="en-US" sz="1600" baseline="-25000" dirty="0" smtClean="0">
                <a:solidFill>
                  <a:srgbClr val="231F20"/>
                </a:solidFill>
                <a:latin typeface="Arial" charset="0"/>
                <a:ea typeface="ヒラギノ角ゴ Pro W3" charset="0"/>
                <a:cs typeface="ヒラギノ角ゴ Pro W3" charset="0"/>
                <a:sym typeface="Symbol" charset="0"/>
              </a:rPr>
              <a:t>t</a:t>
            </a:r>
            <a:r>
              <a:rPr lang="en-US" sz="1600" i="1" baseline="-25000" dirty="0" smtClean="0">
                <a:solidFill>
                  <a:srgbClr val="231F20"/>
                </a:solidFill>
                <a:latin typeface="Arial" charset="0"/>
                <a:ea typeface="ヒラギノ角ゴ Pro W3" charset="0"/>
                <a:cs typeface="ヒラギノ角ゴ Pro W3" charset="0"/>
                <a:sym typeface="Symbol" charset="0"/>
              </a:rPr>
              <a:t>+</a:t>
            </a:r>
            <a:r>
              <a:rPr lang="en-US" sz="1600" baseline="-25000" dirty="0" smtClean="0">
                <a:solidFill>
                  <a:srgbClr val="231F20"/>
                </a:solidFill>
                <a:latin typeface="Arial" charset="0"/>
                <a:ea typeface="ヒラギノ角ゴ Pro W3" charset="0"/>
                <a:cs typeface="ヒラギノ角ゴ Pro W3" charset="0"/>
                <a:sym typeface="Symbol" charset="0"/>
              </a:rPr>
              <a:t>1</a:t>
            </a:r>
            <a:endParaRPr lang="en-US" sz="1600" dirty="0">
              <a:solidFill>
                <a:srgbClr val="231F20"/>
              </a:solidFill>
              <a:latin typeface="Arial" charset="0"/>
              <a:ea typeface="ヒラギノ角ゴ Pro W3" charset="0"/>
              <a:cs typeface="ヒラギノ角ゴ Pro W3" charset="0"/>
            </a:endParaRPr>
          </a:p>
        </p:txBody>
      </p:sp>
      <p:sp>
        <p:nvSpPr>
          <p:cNvPr id="2" name="Rectangle à coins arrondis 1"/>
          <p:cNvSpPr/>
          <p:nvPr/>
        </p:nvSpPr>
        <p:spPr>
          <a:xfrm>
            <a:off x="3779912" y="4077072"/>
            <a:ext cx="2376264" cy="1512168"/>
          </a:xfrm>
          <a:prstGeom prst="roundRect">
            <a:avLst/>
          </a:prstGeom>
          <a:solidFill>
            <a:srgbClr val="FFFFFF"/>
          </a:solidFill>
          <a:ln>
            <a:solidFill>
              <a:schemeClr val="tx1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ZoneTexte 26"/>
          <p:cNvSpPr txBox="1"/>
          <p:nvPr/>
        </p:nvSpPr>
        <p:spPr>
          <a:xfrm>
            <a:off x="4438715" y="5301208"/>
            <a:ext cx="997381" cy="276999"/>
          </a:xfrm>
          <a:prstGeom prst="rect">
            <a:avLst/>
          </a:prstGeom>
          <a:solidFill>
            <a:srgbClr val="FFFFFF"/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dirty="0" smtClean="0"/>
              <a:t>Real world</a:t>
            </a:r>
            <a:endParaRPr lang="en-US" dirty="0"/>
          </a:p>
        </p:txBody>
      </p:sp>
      <p:sp>
        <p:nvSpPr>
          <p:cNvPr id="18" name="ZoneTexte 55"/>
          <p:cNvSpPr txBox="1">
            <a:spLocks noChangeArrowheads="1"/>
          </p:cNvSpPr>
          <p:nvPr/>
        </p:nvSpPr>
        <p:spPr bwMode="auto">
          <a:xfrm>
            <a:off x="6070056" y="1835532"/>
            <a:ext cx="374152" cy="369332"/>
          </a:xfrm>
          <a:prstGeom prst="rect">
            <a:avLst/>
          </a:prstGeom>
          <a:solidFill>
            <a:srgbClr val="FFFFFF"/>
          </a:solidFill>
          <a:ln>
            <a:noFill/>
          </a:ln>
          <a:extLst/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i="1" dirty="0" smtClean="0">
                <a:solidFill>
                  <a:srgbClr val="231F20"/>
                </a:solidFill>
                <a:latin typeface="+mn-lt"/>
                <a:ea typeface="ヒラギノ角ゴ Pro W3" charset="0"/>
                <a:cs typeface="ヒラギノ角ゴ Pro W3" charset="0"/>
                <a:sym typeface="Symbol" charset="0"/>
              </a:rPr>
              <a:t>a</a:t>
            </a:r>
            <a:r>
              <a:rPr lang="en-US" sz="1800" baseline="-25000" dirty="0" smtClean="0">
                <a:solidFill>
                  <a:srgbClr val="231F20"/>
                </a:solidFill>
                <a:latin typeface="+mn-lt"/>
                <a:ea typeface="ヒラギノ角ゴ Pro W3" charset="0"/>
                <a:cs typeface="ヒラギノ角ゴ Pro W3" charset="0"/>
                <a:sym typeface="Symbol" charset="0"/>
              </a:rPr>
              <a:t>t</a:t>
            </a:r>
            <a:endParaRPr lang="en-US" sz="1800" baseline="-25000" dirty="0">
              <a:solidFill>
                <a:srgbClr val="231F20"/>
              </a:solidFill>
              <a:latin typeface="+mn-lt"/>
              <a:ea typeface="ヒラギノ角ゴ Pro W3" charset="0"/>
              <a:cs typeface="ヒラギノ角ゴ Pro W3" charset="0"/>
            </a:endParaRPr>
          </a:p>
        </p:txBody>
      </p:sp>
      <p:sp>
        <p:nvSpPr>
          <p:cNvPr id="17" name="ZoneTexte 55"/>
          <p:cNvSpPr txBox="1">
            <a:spLocks noChangeArrowheads="1"/>
          </p:cNvSpPr>
          <p:nvPr/>
        </p:nvSpPr>
        <p:spPr bwMode="auto">
          <a:xfrm>
            <a:off x="3131840" y="1835532"/>
            <a:ext cx="384604" cy="369332"/>
          </a:xfrm>
          <a:prstGeom prst="rect">
            <a:avLst/>
          </a:prstGeom>
          <a:solidFill>
            <a:srgbClr val="FFFFFF"/>
          </a:solidFill>
          <a:ln>
            <a:noFill/>
          </a:ln>
          <a:extLst/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i="1" dirty="0" err="1" smtClean="0">
                <a:solidFill>
                  <a:srgbClr val="231F20"/>
                </a:solidFill>
                <a:latin typeface="Arial" charset="0"/>
                <a:ea typeface="ヒラギノ角ゴ Pro W3" charset="0"/>
                <a:cs typeface="ヒラギノ角ゴ Pro W3" charset="0"/>
                <a:sym typeface="Symbol" charset="0"/>
              </a:rPr>
              <a:t>o</a:t>
            </a:r>
            <a:r>
              <a:rPr lang="en-US" sz="1800" baseline="-25000" dirty="0" err="1" smtClean="0">
                <a:solidFill>
                  <a:srgbClr val="231F20"/>
                </a:solidFill>
                <a:latin typeface="Arial" charset="0"/>
                <a:ea typeface="ヒラギノ角ゴ Pro W3" charset="0"/>
                <a:cs typeface="ヒラギノ角ゴ Pro W3" charset="0"/>
                <a:sym typeface="Symbol" charset="0"/>
              </a:rPr>
              <a:t>t</a:t>
            </a:r>
            <a:endParaRPr lang="en-US" sz="1800" dirty="0">
              <a:solidFill>
                <a:srgbClr val="231F20"/>
              </a:solidFill>
              <a:latin typeface="Arial" charset="0"/>
              <a:ea typeface="ヒラギノ角ゴ Pro W3" charset="0"/>
              <a:cs typeface="ヒラギノ角ゴ Pro W3" charset="0"/>
            </a:endParaRPr>
          </a:p>
        </p:txBody>
      </p:sp>
      <p:sp>
        <p:nvSpPr>
          <p:cNvPr id="5" name="Ellipse 4"/>
          <p:cNvSpPr/>
          <p:nvPr/>
        </p:nvSpPr>
        <p:spPr>
          <a:xfrm>
            <a:off x="3491880" y="4437112"/>
            <a:ext cx="298450" cy="28575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3635896" y="3861048"/>
            <a:ext cx="2364379" cy="1440160"/>
          </a:xfrm>
          <a:prstGeom prst="rect">
            <a:avLst/>
          </a:prstGeom>
          <a:solidFill>
            <a:srgbClr val="FFFFFF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000">
              <a:solidFill>
                <a:schemeClr val="tx1"/>
              </a:solidFill>
            </a:endParaRPr>
          </a:p>
        </p:txBody>
      </p:sp>
      <p:cxnSp>
        <p:nvCxnSpPr>
          <p:cNvPr id="4" name="Connecteur droit 3"/>
          <p:cNvCxnSpPr>
            <a:endCxn id="8" idx="3"/>
          </p:cNvCxnSpPr>
          <p:nvPr/>
        </p:nvCxnSpPr>
        <p:spPr bwMode="auto">
          <a:xfrm flipH="1">
            <a:off x="6012160" y="2204864"/>
            <a:ext cx="792090" cy="2426"/>
          </a:xfrm>
          <a:prstGeom prst="line">
            <a:avLst/>
          </a:prstGeom>
          <a:ln>
            <a:solidFill>
              <a:schemeClr val="tx1"/>
            </a:solidFill>
            <a:headEnd type="none" w="lg" len="lg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eur droit 5"/>
          <p:cNvCxnSpPr>
            <a:stCxn id="19" idx="3"/>
          </p:cNvCxnSpPr>
          <p:nvPr/>
        </p:nvCxnSpPr>
        <p:spPr bwMode="auto">
          <a:xfrm>
            <a:off x="6000275" y="4581128"/>
            <a:ext cx="803973" cy="0"/>
          </a:xfrm>
          <a:prstGeom prst="line">
            <a:avLst/>
          </a:prstGeom>
          <a:ln>
            <a:solidFill>
              <a:schemeClr val="tx1"/>
            </a:solidFill>
            <a:head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eur droit 6"/>
          <p:cNvCxnSpPr>
            <a:stCxn id="8" idx="1"/>
          </p:cNvCxnSpPr>
          <p:nvPr/>
        </p:nvCxnSpPr>
        <p:spPr bwMode="auto">
          <a:xfrm flipH="1" flipV="1">
            <a:off x="2771800" y="2204864"/>
            <a:ext cx="864096" cy="2426"/>
          </a:xfrm>
          <a:prstGeom prst="line">
            <a:avLst/>
          </a:prstGeom>
          <a:ln>
            <a:solidFill>
              <a:schemeClr val="tx1"/>
            </a:solidFill>
            <a:head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 bwMode="auto">
          <a:xfrm>
            <a:off x="3635896" y="1919952"/>
            <a:ext cx="2376264" cy="574675"/>
          </a:xfrm>
          <a:prstGeom prst="rect">
            <a:avLst/>
          </a:prstGeom>
          <a:solidFill>
            <a:srgbClr val="FFFFFF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dirty="0">
                <a:solidFill>
                  <a:srgbClr val="000000"/>
                </a:solidFill>
              </a:rPr>
              <a:t>Agent</a:t>
            </a:r>
          </a:p>
        </p:txBody>
      </p:sp>
      <p:cxnSp>
        <p:nvCxnSpPr>
          <p:cNvPr id="9" name="Connecteur droit 8"/>
          <p:cNvCxnSpPr/>
          <p:nvPr/>
        </p:nvCxnSpPr>
        <p:spPr bwMode="auto">
          <a:xfrm flipV="1">
            <a:off x="2771800" y="2204864"/>
            <a:ext cx="0" cy="2376264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eur droit 10"/>
          <p:cNvCxnSpPr/>
          <p:nvPr/>
        </p:nvCxnSpPr>
        <p:spPr bwMode="auto">
          <a:xfrm flipV="1">
            <a:off x="6804248" y="2204866"/>
            <a:ext cx="0" cy="2376262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riangle isocèle 13"/>
          <p:cNvSpPr/>
          <p:nvPr/>
        </p:nvSpPr>
        <p:spPr>
          <a:xfrm rot="16200000">
            <a:off x="5977355" y="4399483"/>
            <a:ext cx="409575" cy="360363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23" name="Connecteur droit 22"/>
          <p:cNvCxnSpPr>
            <a:stCxn id="8" idx="2"/>
            <a:endCxn id="19" idx="0"/>
          </p:cNvCxnSpPr>
          <p:nvPr/>
        </p:nvCxnSpPr>
        <p:spPr bwMode="auto">
          <a:xfrm flipH="1">
            <a:off x="4818086" y="2494627"/>
            <a:ext cx="5942" cy="1366421"/>
          </a:xfrm>
          <a:prstGeom prst="line">
            <a:avLst/>
          </a:prstGeom>
          <a:ln>
            <a:solidFill>
              <a:schemeClr val="tx1"/>
            </a:solidFill>
            <a:head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ZoneTexte 21"/>
          <p:cNvSpPr txBox="1"/>
          <p:nvPr/>
        </p:nvSpPr>
        <p:spPr>
          <a:xfrm flipH="1">
            <a:off x="4211960" y="3140968"/>
            <a:ext cx="1224136" cy="369332"/>
          </a:xfrm>
          <a:prstGeom prst="rect">
            <a:avLst/>
          </a:prstGeom>
          <a:solidFill>
            <a:srgbClr val="FFFFFF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i="1" dirty="0" smtClean="0"/>
              <a:t>r</a:t>
            </a:r>
            <a:r>
              <a:rPr lang="en-US" dirty="0" smtClean="0"/>
              <a:t>(</a:t>
            </a:r>
            <a:r>
              <a:rPr lang="en-US" i="1" dirty="0" err="1" smtClean="0"/>
              <a:t>s</a:t>
            </a:r>
            <a:r>
              <a:rPr lang="en-US" baseline="-25000" dirty="0" err="1" smtClean="0"/>
              <a:t>t</a:t>
            </a:r>
            <a:r>
              <a:rPr lang="en-US" dirty="0" smtClean="0"/>
              <a:t>, </a:t>
            </a:r>
            <a:r>
              <a:rPr lang="en-US" i="1" dirty="0" smtClean="0"/>
              <a:t>a</a:t>
            </a:r>
            <a:r>
              <a:rPr lang="en-US" baseline="-25000" dirty="0" smtClean="0"/>
              <a:t>t</a:t>
            </a:r>
            <a:r>
              <a:rPr lang="en-US" dirty="0" smtClean="0"/>
              <a:t>,</a:t>
            </a:r>
            <a:r>
              <a:rPr lang="en-US" i="1" dirty="0"/>
              <a:t> s</a:t>
            </a:r>
            <a:r>
              <a:rPr lang="en-US" baseline="-25000" dirty="0"/>
              <a:t>t+1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26" name="Triangle isocèle 25"/>
          <p:cNvSpPr/>
          <p:nvPr/>
        </p:nvSpPr>
        <p:spPr>
          <a:xfrm>
            <a:off x="4619873" y="2492896"/>
            <a:ext cx="409575" cy="360363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2" name="ZoneTexte 31"/>
          <p:cNvSpPr txBox="1"/>
          <p:nvPr/>
        </p:nvSpPr>
        <p:spPr>
          <a:xfrm>
            <a:off x="3707904" y="4005064"/>
            <a:ext cx="2192502" cy="369332"/>
          </a:xfrm>
          <a:prstGeom prst="rect">
            <a:avLst/>
          </a:prstGeom>
          <a:solidFill>
            <a:srgbClr val="FFFFFF"/>
          </a:solidFill>
        </p:spPr>
        <p:txBody>
          <a:bodyPr wrap="none" rtlCol="0">
            <a:spAutoFit/>
          </a:bodyPr>
          <a:lstStyle/>
          <a:p>
            <a:r>
              <a:rPr lang="en-US" dirty="0" smtClean="0"/>
              <a:t>Environment’s Model</a:t>
            </a:r>
            <a:endParaRPr lang="en-US" dirty="0"/>
          </a:p>
        </p:txBody>
      </p:sp>
      <p:sp>
        <p:nvSpPr>
          <p:cNvPr id="35" name="ZoneTexte 55"/>
          <p:cNvSpPr txBox="1">
            <a:spLocks noChangeArrowheads="1"/>
          </p:cNvSpPr>
          <p:nvPr/>
        </p:nvSpPr>
        <p:spPr bwMode="auto">
          <a:xfrm>
            <a:off x="3928142" y="4293096"/>
            <a:ext cx="355826" cy="338554"/>
          </a:xfrm>
          <a:prstGeom prst="rect">
            <a:avLst/>
          </a:prstGeom>
          <a:solidFill>
            <a:srgbClr val="FFFFFF"/>
          </a:solidFill>
          <a:ln>
            <a:noFill/>
          </a:ln>
          <a:extLst/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600" i="1" dirty="0" err="1" smtClean="0">
                <a:solidFill>
                  <a:srgbClr val="231F20"/>
                </a:solidFill>
                <a:latin typeface="Arial" charset="0"/>
                <a:ea typeface="ヒラギノ角ゴ Pro W3" charset="0"/>
                <a:cs typeface="ヒラギノ角ゴ Pro W3" charset="0"/>
                <a:sym typeface="Symbol" charset="0"/>
              </a:rPr>
              <a:t>s</a:t>
            </a:r>
            <a:r>
              <a:rPr lang="en-US" sz="1600" baseline="-25000" dirty="0" err="1" smtClean="0">
                <a:solidFill>
                  <a:srgbClr val="231F20"/>
                </a:solidFill>
                <a:latin typeface="Arial" charset="0"/>
                <a:ea typeface="ヒラギノ角ゴ Pro W3" charset="0"/>
                <a:cs typeface="ヒラギノ角ゴ Pro W3" charset="0"/>
                <a:sym typeface="Symbol" charset="0"/>
              </a:rPr>
              <a:t>t</a:t>
            </a:r>
            <a:endParaRPr lang="en-US" sz="1600" baseline="-25000" dirty="0">
              <a:solidFill>
                <a:srgbClr val="231F20"/>
              </a:solidFill>
              <a:latin typeface="Arial" charset="0"/>
              <a:ea typeface="ヒラギノ角ゴ Pro W3" charset="0"/>
              <a:cs typeface="ヒラギノ角ゴ Pro W3" charset="0"/>
            </a:endParaRPr>
          </a:p>
        </p:txBody>
      </p:sp>
      <p:cxnSp>
        <p:nvCxnSpPr>
          <p:cNvPr id="38" name="Connecteur droit 37"/>
          <p:cNvCxnSpPr>
            <a:stCxn id="33" idx="6"/>
            <a:endCxn id="34" idx="2"/>
          </p:cNvCxnSpPr>
          <p:nvPr/>
        </p:nvCxnSpPr>
        <p:spPr>
          <a:xfrm>
            <a:off x="4499992" y="4653136"/>
            <a:ext cx="648072" cy="0"/>
          </a:xfrm>
          <a:prstGeom prst="line">
            <a:avLst/>
          </a:prstGeom>
          <a:ln w="12700">
            <a:solidFill>
              <a:schemeClr val="tx1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eur droit 43"/>
          <p:cNvCxnSpPr>
            <a:endCxn id="19" idx="1"/>
          </p:cNvCxnSpPr>
          <p:nvPr/>
        </p:nvCxnSpPr>
        <p:spPr bwMode="auto">
          <a:xfrm>
            <a:off x="2771800" y="4581128"/>
            <a:ext cx="864096" cy="0"/>
          </a:xfrm>
          <a:prstGeom prst="line">
            <a:avLst/>
          </a:prstGeom>
          <a:ln>
            <a:solidFill>
              <a:schemeClr val="tx1"/>
            </a:solidFill>
            <a:head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ZoneTexte 55"/>
          <p:cNvSpPr txBox="1">
            <a:spLocks noChangeArrowheads="1"/>
          </p:cNvSpPr>
          <p:nvPr/>
        </p:nvSpPr>
        <p:spPr bwMode="auto">
          <a:xfrm>
            <a:off x="4211960" y="4869160"/>
            <a:ext cx="1159228" cy="338554"/>
          </a:xfrm>
          <a:prstGeom prst="rect">
            <a:avLst/>
          </a:prstGeom>
          <a:solidFill>
            <a:srgbClr val="FFFFFF"/>
          </a:solidFill>
          <a:ln>
            <a:noFill/>
          </a:ln>
          <a:extLst/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600" i="1" dirty="0" smtClean="0">
                <a:solidFill>
                  <a:srgbClr val="231F20"/>
                </a:solidFill>
                <a:latin typeface="+mn-lt"/>
                <a:ea typeface="ヒラギノ角ゴ Pro W3" charset="0"/>
                <a:cs typeface="ヒラギノ角ゴ Pro W3" charset="0"/>
                <a:sym typeface="Symbol" charset="0"/>
              </a:rPr>
              <a:t>T</a:t>
            </a:r>
            <a:r>
              <a:rPr lang="en-US" sz="1600" dirty="0" smtClean="0">
                <a:solidFill>
                  <a:srgbClr val="231F20"/>
                </a:solidFill>
                <a:latin typeface="+mn-lt"/>
                <a:ea typeface="ヒラギノ角ゴ Pro W3" charset="0"/>
                <a:cs typeface="ヒラギノ角ゴ Pro W3" charset="0"/>
                <a:sym typeface="Symbol" charset="0"/>
              </a:rPr>
              <a:t>(</a:t>
            </a:r>
            <a:r>
              <a:rPr lang="en-US" sz="1600" i="1" dirty="0" smtClean="0">
                <a:solidFill>
                  <a:srgbClr val="231F20"/>
                </a:solidFill>
                <a:latin typeface="+mn-lt"/>
                <a:ea typeface="ヒラギノ角ゴ Pro W3" charset="0"/>
                <a:cs typeface="ヒラギノ角ゴ Pro W3" charset="0"/>
                <a:sym typeface="Symbol" charset="0"/>
              </a:rPr>
              <a:t>s</a:t>
            </a:r>
            <a:r>
              <a:rPr lang="en-US" sz="1600" baseline="-25000" dirty="0" smtClean="0">
                <a:solidFill>
                  <a:srgbClr val="231F20"/>
                </a:solidFill>
                <a:latin typeface="+mn-lt"/>
                <a:ea typeface="ヒラギノ角ゴ Pro W3" charset="0"/>
                <a:cs typeface="ヒラギノ角ゴ Pro W3" charset="0"/>
                <a:sym typeface="Symbol" charset="0"/>
              </a:rPr>
              <a:t>t+1</a:t>
            </a:r>
            <a:r>
              <a:rPr lang="en-US" sz="1600" dirty="0" smtClean="0">
                <a:solidFill>
                  <a:srgbClr val="231F20"/>
                </a:solidFill>
                <a:latin typeface="+mn-lt"/>
                <a:ea typeface="ヒラギノ角ゴ Pro W3" charset="0"/>
                <a:cs typeface="ヒラギノ角ゴ Pro W3" charset="0"/>
                <a:sym typeface="Symbol" charset="0"/>
              </a:rPr>
              <a:t>|</a:t>
            </a:r>
            <a:r>
              <a:rPr lang="en-US" sz="1600" i="1" dirty="0" smtClean="0">
                <a:solidFill>
                  <a:srgbClr val="231F20"/>
                </a:solidFill>
                <a:latin typeface="+mn-lt"/>
                <a:ea typeface="ヒラギノ角ゴ Pro W3" charset="0"/>
                <a:cs typeface="ヒラギノ角ゴ Pro W3" charset="0"/>
                <a:sym typeface="Symbol" charset="0"/>
              </a:rPr>
              <a:t>s</a:t>
            </a:r>
            <a:r>
              <a:rPr lang="en-US" sz="1600" baseline="-25000" dirty="0" smtClean="0">
                <a:solidFill>
                  <a:srgbClr val="231F20"/>
                </a:solidFill>
                <a:latin typeface="+mn-lt"/>
                <a:ea typeface="ヒラギノ角ゴ Pro W3" charset="0"/>
                <a:cs typeface="ヒラギノ角ゴ Pro W3" charset="0"/>
                <a:sym typeface="Symbol" charset="0"/>
              </a:rPr>
              <a:t>t</a:t>
            </a:r>
            <a:r>
              <a:rPr lang="en-US" sz="1600" dirty="0" smtClean="0">
                <a:solidFill>
                  <a:srgbClr val="231F20"/>
                </a:solidFill>
                <a:latin typeface="+mn-lt"/>
                <a:ea typeface="ヒラギノ角ゴ Pro W3" charset="0"/>
                <a:cs typeface="ヒラギノ角ゴ Pro W3" charset="0"/>
                <a:sym typeface="Symbol" charset="0"/>
              </a:rPr>
              <a:t>, </a:t>
            </a:r>
            <a:r>
              <a:rPr lang="en-US" sz="1600" i="1" dirty="0" smtClean="0">
                <a:solidFill>
                  <a:srgbClr val="231F20"/>
                </a:solidFill>
                <a:latin typeface="+mn-lt"/>
                <a:ea typeface="ヒラギノ角ゴ Pro W3" charset="0"/>
                <a:cs typeface="ヒラギノ角ゴ Pro W3" charset="0"/>
                <a:sym typeface="Symbol" charset="0"/>
              </a:rPr>
              <a:t>a</a:t>
            </a:r>
            <a:r>
              <a:rPr lang="en-US" sz="1600" baseline="-25000" dirty="0" smtClean="0">
                <a:solidFill>
                  <a:srgbClr val="231F20"/>
                </a:solidFill>
                <a:latin typeface="+mn-lt"/>
                <a:ea typeface="ヒラギノ角ゴ Pro W3" charset="0"/>
                <a:cs typeface="ヒラギノ角ゴ Pro W3" charset="0"/>
                <a:sym typeface="Symbol" charset="0"/>
              </a:rPr>
              <a:t>t</a:t>
            </a:r>
            <a:r>
              <a:rPr lang="en-US" sz="1600" dirty="0" smtClean="0">
                <a:solidFill>
                  <a:srgbClr val="231F20"/>
                </a:solidFill>
                <a:latin typeface="+mn-lt"/>
                <a:ea typeface="ヒラギノ角ゴ Pro W3" charset="0"/>
                <a:cs typeface="ヒラギノ角ゴ Pro W3" charset="0"/>
                <a:sym typeface="Symbol" charset="0"/>
              </a:rPr>
              <a:t>)</a:t>
            </a:r>
            <a:endParaRPr lang="en-US" sz="1600" dirty="0">
              <a:solidFill>
                <a:srgbClr val="231F20"/>
              </a:solidFill>
              <a:latin typeface="+mn-lt"/>
              <a:ea typeface="ヒラギノ角ゴ Pro W3" charset="0"/>
              <a:cs typeface="ヒラギノ角ゴ Pro W3" charset="0"/>
            </a:endParaRPr>
          </a:p>
        </p:txBody>
      </p:sp>
      <p:sp>
        <p:nvSpPr>
          <p:cNvPr id="55" name="ZoneTexte 54"/>
          <p:cNvSpPr txBox="1"/>
          <p:nvPr/>
        </p:nvSpPr>
        <p:spPr>
          <a:xfrm flipH="1">
            <a:off x="2339752" y="3140968"/>
            <a:ext cx="1106410" cy="369332"/>
          </a:xfrm>
          <a:prstGeom prst="rect">
            <a:avLst/>
          </a:prstGeom>
          <a:solidFill>
            <a:srgbClr val="FFFFFF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i="1" dirty="0" err="1"/>
              <a:t>v</a:t>
            </a:r>
            <a:r>
              <a:rPr lang="en-US" dirty="0" smtClean="0"/>
              <a:t>(</a:t>
            </a:r>
            <a:r>
              <a:rPr lang="en-US" i="1" dirty="0" err="1" smtClean="0"/>
              <a:t>o</a:t>
            </a:r>
            <a:r>
              <a:rPr lang="en-US" baseline="-25000" dirty="0" err="1" smtClean="0"/>
              <a:t>t</a:t>
            </a:r>
            <a:r>
              <a:rPr lang="en-US" dirty="0" err="1" smtClean="0"/>
              <a:t>|</a:t>
            </a:r>
            <a:r>
              <a:rPr lang="en-US" i="1" dirty="0" err="1" smtClean="0"/>
              <a:t>s</a:t>
            </a:r>
            <a:r>
              <a:rPr lang="en-US" baseline="-25000" dirty="0" err="1" smtClean="0"/>
              <a:t>t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33" name="Ellipse 32"/>
          <p:cNvSpPr/>
          <p:nvPr/>
        </p:nvSpPr>
        <p:spPr>
          <a:xfrm>
            <a:off x="4211960" y="4509120"/>
            <a:ext cx="288032" cy="288032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9" name="ZoneTexte 55"/>
          <p:cNvSpPr txBox="1">
            <a:spLocks noChangeArrowheads="1"/>
          </p:cNvSpPr>
          <p:nvPr/>
        </p:nvSpPr>
        <p:spPr bwMode="auto">
          <a:xfrm>
            <a:off x="5436096" y="4293096"/>
            <a:ext cx="500263" cy="338554"/>
          </a:xfrm>
          <a:prstGeom prst="rect">
            <a:avLst/>
          </a:prstGeom>
          <a:solidFill>
            <a:srgbClr val="FFFFFF"/>
          </a:solidFill>
          <a:ln>
            <a:noFill/>
          </a:ln>
          <a:extLst/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600" i="1" dirty="0" smtClean="0">
                <a:solidFill>
                  <a:srgbClr val="231F20"/>
                </a:solidFill>
                <a:latin typeface="Arial" charset="0"/>
                <a:ea typeface="ヒラギノ角ゴ Pro W3" charset="0"/>
                <a:cs typeface="ヒラギノ角ゴ Pro W3" charset="0"/>
                <a:sym typeface="Symbol" charset="0"/>
              </a:rPr>
              <a:t>s</a:t>
            </a:r>
            <a:r>
              <a:rPr lang="en-US" sz="1600" baseline="-25000" dirty="0" smtClean="0">
                <a:solidFill>
                  <a:srgbClr val="231F20"/>
                </a:solidFill>
                <a:latin typeface="Arial" charset="0"/>
                <a:ea typeface="ヒラギノ角ゴ Pro W3" charset="0"/>
                <a:cs typeface="ヒラギノ角ゴ Pro W3" charset="0"/>
                <a:sym typeface="Symbol" charset="0"/>
              </a:rPr>
              <a:t>t+1</a:t>
            </a:r>
            <a:endParaRPr lang="en-US" sz="1600" dirty="0">
              <a:solidFill>
                <a:srgbClr val="231F20"/>
              </a:solidFill>
              <a:latin typeface="Arial" charset="0"/>
              <a:ea typeface="ヒラギノ角ゴ Pro W3" charset="0"/>
              <a:cs typeface="ヒラギノ角ゴ Pro W3" charset="0"/>
            </a:endParaRPr>
          </a:p>
        </p:txBody>
      </p:sp>
      <p:sp>
        <p:nvSpPr>
          <p:cNvPr id="34" name="Ellipse 33"/>
          <p:cNvSpPr/>
          <p:nvPr/>
        </p:nvSpPr>
        <p:spPr>
          <a:xfrm>
            <a:off x="5148064" y="4509120"/>
            <a:ext cx="288032" cy="288032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9850225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ZoneTexte 55"/>
          <p:cNvSpPr txBox="1">
            <a:spLocks noChangeArrowheads="1"/>
          </p:cNvSpPr>
          <p:nvPr/>
        </p:nvSpPr>
        <p:spPr bwMode="auto">
          <a:xfrm>
            <a:off x="6300192" y="2123564"/>
            <a:ext cx="376201" cy="369332"/>
          </a:xfrm>
          <a:prstGeom prst="rect">
            <a:avLst/>
          </a:prstGeom>
          <a:solidFill>
            <a:srgbClr val="FFFFFF"/>
          </a:solidFill>
          <a:ln>
            <a:noFill/>
          </a:ln>
          <a:extLst/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i="1" dirty="0" smtClean="0">
                <a:solidFill>
                  <a:srgbClr val="231F20"/>
                </a:solidFill>
                <a:latin typeface="+mn-lt"/>
                <a:ea typeface="ヒラギノ角ゴ Pro W3" charset="0"/>
                <a:cs typeface="ヒラギノ角ゴ Pro W3" charset="0"/>
                <a:sym typeface="Symbol" charset="0"/>
              </a:rPr>
              <a:t>a</a:t>
            </a:r>
            <a:r>
              <a:rPr lang="en-US" sz="1800" baseline="-25000" dirty="0" smtClean="0">
                <a:solidFill>
                  <a:srgbClr val="231F20"/>
                </a:solidFill>
                <a:latin typeface="Arial" charset="0"/>
                <a:ea typeface="ヒラギノ角ゴ Pro W3" charset="0"/>
                <a:cs typeface="ヒラギノ角ゴ Pro W3" charset="0"/>
                <a:sym typeface="Symbol" charset="0"/>
              </a:rPr>
              <a:t>t</a:t>
            </a:r>
            <a:endParaRPr lang="en-US" sz="1800" baseline="-25000" dirty="0">
              <a:solidFill>
                <a:srgbClr val="231F20"/>
              </a:solidFill>
              <a:latin typeface="Arial" charset="0"/>
              <a:ea typeface="ヒラギノ角ゴ Pro W3" charset="0"/>
              <a:cs typeface="ヒラギノ角ゴ Pro W3" charset="0"/>
            </a:endParaRPr>
          </a:p>
        </p:txBody>
      </p:sp>
      <p:sp>
        <p:nvSpPr>
          <p:cNvPr id="17" name="ZoneTexte 55"/>
          <p:cNvSpPr txBox="1">
            <a:spLocks noChangeArrowheads="1"/>
          </p:cNvSpPr>
          <p:nvPr/>
        </p:nvSpPr>
        <p:spPr bwMode="auto">
          <a:xfrm>
            <a:off x="2843808" y="2123564"/>
            <a:ext cx="434753" cy="369332"/>
          </a:xfrm>
          <a:prstGeom prst="rect">
            <a:avLst/>
          </a:prstGeom>
          <a:solidFill>
            <a:srgbClr val="FFFFFF"/>
          </a:solidFill>
          <a:ln>
            <a:noFill/>
          </a:ln>
          <a:extLst/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i="1" dirty="0" err="1" smtClean="0">
                <a:solidFill>
                  <a:srgbClr val="231F20"/>
                </a:solidFill>
                <a:latin typeface="+mn-lt"/>
                <a:ea typeface="ヒラギノ角ゴ Pro W3" charset="0"/>
                <a:cs typeface="ヒラギノ角ゴ Pro W3" charset="0"/>
                <a:sym typeface="Symbol" charset="0"/>
              </a:rPr>
              <a:t>o</a:t>
            </a:r>
            <a:r>
              <a:rPr lang="en-US" sz="1800" dirty="0" err="1" smtClean="0"/>
              <a:t>'</a:t>
            </a:r>
            <a:r>
              <a:rPr lang="en-US" sz="1800" baseline="-25000" dirty="0" err="1" smtClean="0">
                <a:solidFill>
                  <a:srgbClr val="231F20"/>
                </a:solidFill>
                <a:latin typeface="+mn-lt"/>
                <a:ea typeface="ヒラギノ角ゴ Pro W3" charset="0"/>
                <a:cs typeface="ヒラギノ角ゴ Pro W3" charset="0"/>
                <a:sym typeface="Symbol" charset="0"/>
              </a:rPr>
              <a:t>t</a:t>
            </a:r>
            <a:endParaRPr lang="en-US" sz="1800" dirty="0">
              <a:solidFill>
                <a:srgbClr val="231F20"/>
              </a:solidFill>
              <a:latin typeface="+mn-lt"/>
              <a:ea typeface="ヒラギノ角ゴ Pro W3" charset="0"/>
              <a:cs typeface="ヒラギノ角ゴ Pro W3" charset="0"/>
            </a:endParaRPr>
          </a:p>
        </p:txBody>
      </p:sp>
      <p:sp>
        <p:nvSpPr>
          <p:cNvPr id="20" name="Rectangle à coins arrondis 19"/>
          <p:cNvSpPr/>
          <p:nvPr/>
        </p:nvSpPr>
        <p:spPr>
          <a:xfrm>
            <a:off x="3779912" y="3789040"/>
            <a:ext cx="2376264" cy="1584176"/>
          </a:xfrm>
          <a:prstGeom prst="roundRect">
            <a:avLst/>
          </a:prstGeom>
          <a:solidFill>
            <a:srgbClr val="FFFFFF"/>
          </a:solidFill>
          <a:ln>
            <a:solidFill>
              <a:schemeClr val="tx1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ZoneTexte 20"/>
          <p:cNvSpPr txBox="1"/>
          <p:nvPr/>
        </p:nvSpPr>
        <p:spPr>
          <a:xfrm>
            <a:off x="4398065" y="5085184"/>
            <a:ext cx="1182047" cy="276999"/>
          </a:xfrm>
          <a:prstGeom prst="rect">
            <a:avLst/>
          </a:prstGeom>
          <a:solidFill>
            <a:srgbClr val="FFFFFF"/>
          </a:solidFill>
        </p:spPr>
        <p:txBody>
          <a:bodyPr wrap="none" tIns="0" bIns="0" rtlCol="0">
            <a:spAutoFit/>
          </a:bodyPr>
          <a:lstStyle/>
          <a:p>
            <a:r>
              <a:rPr lang="en-US" dirty="0" smtClean="0"/>
              <a:t>Real world</a:t>
            </a:r>
            <a:endParaRPr lang="en-US" dirty="0"/>
          </a:p>
        </p:txBody>
      </p:sp>
      <p:sp>
        <p:nvSpPr>
          <p:cNvPr id="5" name="Ellipse 4"/>
          <p:cNvSpPr/>
          <p:nvPr/>
        </p:nvSpPr>
        <p:spPr>
          <a:xfrm>
            <a:off x="5868144" y="2351162"/>
            <a:ext cx="298450" cy="28575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3635896" y="3645024"/>
            <a:ext cx="2364379" cy="1440160"/>
          </a:xfrm>
          <a:prstGeom prst="rect">
            <a:avLst/>
          </a:prstGeom>
          <a:solidFill>
            <a:srgbClr val="FFFFFF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000">
              <a:solidFill>
                <a:schemeClr val="tx1"/>
              </a:solidFill>
            </a:endParaRPr>
          </a:p>
        </p:txBody>
      </p:sp>
      <p:cxnSp>
        <p:nvCxnSpPr>
          <p:cNvPr id="4" name="Connecteur droit 3"/>
          <p:cNvCxnSpPr>
            <a:endCxn id="8" idx="3"/>
          </p:cNvCxnSpPr>
          <p:nvPr/>
        </p:nvCxnSpPr>
        <p:spPr bwMode="auto">
          <a:xfrm flipH="1">
            <a:off x="6012160" y="2492896"/>
            <a:ext cx="792088" cy="0"/>
          </a:xfrm>
          <a:prstGeom prst="line">
            <a:avLst/>
          </a:prstGeom>
          <a:ln>
            <a:solidFill>
              <a:schemeClr val="tx1"/>
            </a:solidFill>
            <a:headEnd type="none" w="lg" len="lg"/>
            <a:tail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eur droit 5"/>
          <p:cNvCxnSpPr>
            <a:stCxn id="19" idx="3"/>
          </p:cNvCxnSpPr>
          <p:nvPr/>
        </p:nvCxnSpPr>
        <p:spPr bwMode="auto">
          <a:xfrm>
            <a:off x="6000275" y="4365104"/>
            <a:ext cx="803973" cy="0"/>
          </a:xfrm>
          <a:prstGeom prst="line">
            <a:avLst/>
          </a:prstGeom>
          <a:ln>
            <a:solidFill>
              <a:schemeClr val="tx1"/>
            </a:solidFill>
            <a:head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eur droit 6"/>
          <p:cNvCxnSpPr>
            <a:stCxn id="8" idx="1"/>
          </p:cNvCxnSpPr>
          <p:nvPr/>
        </p:nvCxnSpPr>
        <p:spPr bwMode="auto">
          <a:xfrm flipH="1">
            <a:off x="2771800" y="2492896"/>
            <a:ext cx="864096" cy="0"/>
          </a:xfrm>
          <a:prstGeom prst="line">
            <a:avLst/>
          </a:prstGeom>
          <a:ln>
            <a:solidFill>
              <a:schemeClr val="tx1"/>
            </a:solidFill>
            <a:head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 bwMode="auto">
          <a:xfrm>
            <a:off x="3635896" y="1916832"/>
            <a:ext cx="2376264" cy="1152128"/>
          </a:xfrm>
          <a:prstGeom prst="rect">
            <a:avLst/>
          </a:prstGeom>
          <a:solidFill>
            <a:srgbClr val="FFFFFF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000" dirty="0">
              <a:solidFill>
                <a:srgbClr val="000000"/>
              </a:solidFill>
            </a:endParaRPr>
          </a:p>
        </p:txBody>
      </p:sp>
      <p:cxnSp>
        <p:nvCxnSpPr>
          <p:cNvPr id="9" name="Connecteur droit 8"/>
          <p:cNvCxnSpPr/>
          <p:nvPr/>
        </p:nvCxnSpPr>
        <p:spPr bwMode="auto">
          <a:xfrm flipV="1">
            <a:off x="2771800" y="2492896"/>
            <a:ext cx="0" cy="1872208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eur droit 10"/>
          <p:cNvCxnSpPr/>
          <p:nvPr/>
        </p:nvCxnSpPr>
        <p:spPr bwMode="auto">
          <a:xfrm flipV="1">
            <a:off x="6804248" y="2492896"/>
            <a:ext cx="0" cy="1872208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ZoneTexte 31"/>
          <p:cNvSpPr txBox="1"/>
          <p:nvPr/>
        </p:nvSpPr>
        <p:spPr>
          <a:xfrm>
            <a:off x="3747650" y="3717032"/>
            <a:ext cx="2192502" cy="369332"/>
          </a:xfrm>
          <a:prstGeom prst="rect">
            <a:avLst/>
          </a:prstGeom>
          <a:solidFill>
            <a:srgbClr val="FFFFFF"/>
          </a:solidFill>
        </p:spPr>
        <p:txBody>
          <a:bodyPr wrap="none" rtlCol="0">
            <a:spAutoFit/>
          </a:bodyPr>
          <a:lstStyle/>
          <a:p>
            <a:r>
              <a:rPr lang="en-US" dirty="0" smtClean="0"/>
              <a:t>Environment’s Model</a:t>
            </a:r>
            <a:endParaRPr lang="en-US" dirty="0"/>
          </a:p>
        </p:txBody>
      </p:sp>
      <p:cxnSp>
        <p:nvCxnSpPr>
          <p:cNvPr id="44" name="Connecteur droit 43"/>
          <p:cNvCxnSpPr>
            <a:endCxn id="19" idx="1"/>
          </p:cNvCxnSpPr>
          <p:nvPr/>
        </p:nvCxnSpPr>
        <p:spPr bwMode="auto">
          <a:xfrm>
            <a:off x="2771800" y="4365104"/>
            <a:ext cx="864096" cy="0"/>
          </a:xfrm>
          <a:prstGeom prst="line">
            <a:avLst/>
          </a:prstGeom>
          <a:ln>
            <a:solidFill>
              <a:schemeClr val="tx1"/>
            </a:solidFill>
            <a:headEnd type="non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riangle isocèle 26"/>
          <p:cNvSpPr/>
          <p:nvPr/>
        </p:nvSpPr>
        <p:spPr>
          <a:xfrm rot="5400000">
            <a:off x="3251250" y="2311251"/>
            <a:ext cx="409575" cy="360363"/>
          </a:xfrm>
          <a:prstGeom prst="triangle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8" name="ZoneTexte 27"/>
          <p:cNvSpPr txBox="1"/>
          <p:nvPr/>
        </p:nvSpPr>
        <p:spPr>
          <a:xfrm>
            <a:off x="4067944" y="4149080"/>
            <a:ext cx="1580318" cy="861774"/>
          </a:xfrm>
          <a:prstGeom prst="rect">
            <a:avLst/>
          </a:prstGeom>
          <a:solidFill>
            <a:srgbClr val="FFFFFF"/>
          </a:solidFill>
        </p:spPr>
        <p:txBody>
          <a:bodyPr wrap="none" rtlCol="0">
            <a:spAutoFit/>
          </a:bodyPr>
          <a:lstStyle/>
          <a:p>
            <a:r>
              <a:rPr lang="en-US" sz="1600" i="1" dirty="0" err="1" smtClean="0"/>
              <a:t>o</a:t>
            </a:r>
            <a:r>
              <a:rPr lang="en-US" sz="1600" dirty="0" err="1" smtClean="0"/>
              <a:t>'</a:t>
            </a:r>
            <a:r>
              <a:rPr lang="en-US" sz="1600" baseline="-25000" dirty="0" err="1" smtClean="0"/>
              <a:t>t</a:t>
            </a:r>
            <a:r>
              <a:rPr lang="en-US" sz="1600" dirty="0" smtClean="0"/>
              <a:t> </a:t>
            </a:r>
            <a:r>
              <a:rPr lang="en-US" sz="1600" dirty="0">
                <a:sym typeface="Symbol"/>
              </a:rPr>
              <a:t></a:t>
            </a:r>
            <a:r>
              <a:rPr lang="fr-FR" sz="1600" dirty="0"/>
              <a:t> </a:t>
            </a:r>
            <a:r>
              <a:rPr lang="en-US" sz="1600" dirty="0" err="1" smtClean="0"/>
              <a:t>env</a:t>
            </a:r>
            <a:r>
              <a:rPr lang="en-US" sz="1600" dirty="0" smtClean="0"/>
              <a:t>(</a:t>
            </a:r>
            <a:r>
              <a:rPr lang="en-US" sz="1600" i="1" dirty="0" smtClean="0"/>
              <a:t>a</a:t>
            </a:r>
            <a:r>
              <a:rPr lang="en-US" sz="1600" baseline="-25000" dirty="0" smtClean="0"/>
              <a:t>t</a:t>
            </a:r>
            <a:r>
              <a:rPr lang="en-US" sz="1600" dirty="0" smtClean="0"/>
              <a:t>){</a:t>
            </a:r>
          </a:p>
          <a:p>
            <a:r>
              <a:rPr lang="en-US" sz="1600" dirty="0" smtClean="0"/>
              <a:t>  memory </a:t>
            </a:r>
          </a:p>
          <a:p>
            <a:r>
              <a:rPr lang="en-US" sz="1600" dirty="0" smtClean="0"/>
              <a:t>  + computation}</a:t>
            </a:r>
            <a:endParaRPr lang="en-US" sz="1600" dirty="0"/>
          </a:p>
        </p:txBody>
      </p:sp>
      <p:sp>
        <p:nvSpPr>
          <p:cNvPr id="22" name="ZoneTexte 21"/>
          <p:cNvSpPr txBox="1"/>
          <p:nvPr/>
        </p:nvSpPr>
        <p:spPr>
          <a:xfrm flipH="1">
            <a:off x="4139952" y="2564904"/>
            <a:ext cx="1368152" cy="3693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i="1" dirty="0" err="1" smtClean="0"/>
              <a:t>r</a:t>
            </a:r>
            <a:r>
              <a:rPr lang="en-US" i="1" baseline="-25000" dirty="0" err="1" smtClean="0"/>
              <a:t>t</a:t>
            </a:r>
            <a:r>
              <a:rPr lang="en-US" i="1" dirty="0" smtClean="0"/>
              <a:t> = r</a:t>
            </a:r>
            <a:r>
              <a:rPr lang="en-US" dirty="0" smtClean="0"/>
              <a:t>(</a:t>
            </a:r>
            <a:r>
              <a:rPr lang="en-US" i="1" dirty="0" err="1" smtClean="0"/>
              <a:t>o</a:t>
            </a:r>
            <a:r>
              <a:rPr lang="en-US" dirty="0" err="1" smtClean="0"/>
              <a:t>'</a:t>
            </a:r>
            <a:r>
              <a:rPr lang="en-US" baseline="-25000" dirty="0" err="1" smtClean="0"/>
              <a:t>t</a:t>
            </a:r>
            <a:r>
              <a:rPr lang="en-US" dirty="0" smtClean="0"/>
              <a:t>, </a:t>
            </a:r>
            <a:r>
              <a:rPr lang="en-US" i="1" dirty="0" smtClean="0"/>
              <a:t>a</a:t>
            </a:r>
            <a:r>
              <a:rPr lang="en-US" baseline="-25000" dirty="0" smtClean="0"/>
              <a:t>t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41" name="ZoneTexte 40"/>
          <p:cNvSpPr txBox="1"/>
          <p:nvPr/>
        </p:nvSpPr>
        <p:spPr>
          <a:xfrm>
            <a:off x="4407732" y="2060848"/>
            <a:ext cx="740332" cy="369332"/>
          </a:xfrm>
          <a:prstGeom prst="rect">
            <a:avLst/>
          </a:prstGeom>
          <a:solidFill>
            <a:srgbClr val="FFFFFF"/>
          </a:solidFill>
        </p:spPr>
        <p:txBody>
          <a:bodyPr wrap="none" rtlCol="0">
            <a:spAutoFit/>
          </a:bodyPr>
          <a:lstStyle/>
          <a:p>
            <a:r>
              <a:rPr lang="fr-FR" dirty="0" smtClean="0"/>
              <a:t>Agent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9189063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lipse 3"/>
          <p:cNvSpPr/>
          <p:nvPr/>
        </p:nvSpPr>
        <p:spPr>
          <a:xfrm>
            <a:off x="2555776" y="3212976"/>
            <a:ext cx="648072" cy="648072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>
                <a:solidFill>
                  <a:schemeClr val="tx1"/>
                </a:solidFill>
              </a:rPr>
              <a:t>S1</a:t>
            </a:r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5" name="Ellipse 4"/>
          <p:cNvSpPr/>
          <p:nvPr/>
        </p:nvSpPr>
        <p:spPr>
          <a:xfrm>
            <a:off x="4139952" y="3212976"/>
            <a:ext cx="648072" cy="648072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>
                <a:solidFill>
                  <a:schemeClr val="tx1"/>
                </a:solidFill>
              </a:rPr>
              <a:t>S2</a:t>
            </a:r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7" name="Arc 6"/>
          <p:cNvSpPr/>
          <p:nvPr/>
        </p:nvSpPr>
        <p:spPr>
          <a:xfrm>
            <a:off x="4572000" y="2852936"/>
            <a:ext cx="648072" cy="648072"/>
          </a:xfrm>
          <a:prstGeom prst="arc">
            <a:avLst>
              <a:gd name="adj1" fmla="val 11126718"/>
              <a:gd name="adj2" fmla="val 5952252"/>
            </a:avLst>
          </a:prstGeom>
          <a:ln w="12700">
            <a:solidFill>
              <a:schemeClr val="tx1"/>
            </a:solidFill>
            <a:tailEnd type="arrow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Arc 7"/>
          <p:cNvSpPr/>
          <p:nvPr/>
        </p:nvSpPr>
        <p:spPr>
          <a:xfrm flipH="1">
            <a:off x="2123728" y="2924944"/>
            <a:ext cx="648072" cy="648072"/>
          </a:xfrm>
          <a:prstGeom prst="arc">
            <a:avLst>
              <a:gd name="adj1" fmla="val 11126718"/>
              <a:gd name="adj2" fmla="val 5952252"/>
            </a:avLst>
          </a:prstGeom>
          <a:ln w="12700">
            <a:solidFill>
              <a:schemeClr val="tx1"/>
            </a:solidFill>
            <a:tailEnd type="arrow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ZoneTexte 8"/>
          <p:cNvSpPr txBox="1"/>
          <p:nvPr/>
        </p:nvSpPr>
        <p:spPr>
          <a:xfrm>
            <a:off x="5148064" y="2483604"/>
            <a:ext cx="6076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B, -1</a:t>
            </a:r>
            <a:endParaRPr lang="fr-FR" dirty="0"/>
          </a:p>
        </p:txBody>
      </p:sp>
      <p:sp>
        <p:nvSpPr>
          <p:cNvPr id="10" name="ZoneTexte 9"/>
          <p:cNvSpPr txBox="1"/>
          <p:nvPr/>
        </p:nvSpPr>
        <p:spPr>
          <a:xfrm>
            <a:off x="1835696" y="2483604"/>
            <a:ext cx="6156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A, -1</a:t>
            </a:r>
            <a:endParaRPr lang="fr-FR" dirty="0"/>
          </a:p>
        </p:txBody>
      </p:sp>
      <p:sp>
        <p:nvSpPr>
          <p:cNvPr id="11" name="Arc 10"/>
          <p:cNvSpPr/>
          <p:nvPr/>
        </p:nvSpPr>
        <p:spPr>
          <a:xfrm>
            <a:off x="3059832" y="2852936"/>
            <a:ext cx="1224136" cy="1224136"/>
          </a:xfrm>
          <a:prstGeom prst="arc">
            <a:avLst>
              <a:gd name="adj1" fmla="val 12287208"/>
              <a:gd name="adj2" fmla="val 20374070"/>
            </a:avLst>
          </a:prstGeom>
          <a:ln w="12700">
            <a:solidFill>
              <a:schemeClr val="tx1"/>
            </a:solidFill>
            <a:tailEnd type="arrow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ZoneTexte 11"/>
          <p:cNvSpPr txBox="1"/>
          <p:nvPr/>
        </p:nvSpPr>
        <p:spPr>
          <a:xfrm>
            <a:off x="3343970" y="2411596"/>
            <a:ext cx="651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B, +1</a:t>
            </a:r>
            <a:endParaRPr lang="fr-FR" dirty="0"/>
          </a:p>
        </p:txBody>
      </p:sp>
      <p:sp>
        <p:nvSpPr>
          <p:cNvPr id="13" name="ZoneTexte 12"/>
          <p:cNvSpPr txBox="1"/>
          <p:nvPr/>
        </p:nvSpPr>
        <p:spPr>
          <a:xfrm>
            <a:off x="3335967" y="4139788"/>
            <a:ext cx="659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A, +1</a:t>
            </a:r>
            <a:endParaRPr lang="fr-FR" dirty="0"/>
          </a:p>
        </p:txBody>
      </p:sp>
      <p:sp>
        <p:nvSpPr>
          <p:cNvPr id="14" name="Arc 13"/>
          <p:cNvSpPr/>
          <p:nvPr/>
        </p:nvSpPr>
        <p:spPr>
          <a:xfrm rot="10800000">
            <a:off x="3059832" y="2924942"/>
            <a:ext cx="1224136" cy="1224137"/>
          </a:xfrm>
          <a:prstGeom prst="arc">
            <a:avLst>
              <a:gd name="adj1" fmla="val 12520549"/>
              <a:gd name="adj2" fmla="val 20126892"/>
            </a:avLst>
          </a:prstGeom>
          <a:ln w="12700">
            <a:solidFill>
              <a:schemeClr val="tx1"/>
            </a:solidFill>
            <a:tailEnd type="arrow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Ellipse 1"/>
          <p:cNvSpPr/>
          <p:nvPr/>
        </p:nvSpPr>
        <p:spPr>
          <a:xfrm>
            <a:off x="1979712" y="2996952"/>
            <a:ext cx="3384376" cy="1008112"/>
          </a:xfrm>
          <a:prstGeom prst="ellipse">
            <a:avLst/>
          </a:prstGeom>
          <a:noFill/>
          <a:ln>
            <a:solidFill>
              <a:schemeClr val="tx1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ZoneTexte 14"/>
          <p:cNvSpPr txBox="1"/>
          <p:nvPr/>
        </p:nvSpPr>
        <p:spPr>
          <a:xfrm>
            <a:off x="4499992" y="4005064"/>
            <a:ext cx="1330412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1600" dirty="0" smtClean="0"/>
              <a:t>Unique </a:t>
            </a:r>
          </a:p>
          <a:p>
            <a:pPr algn="ctr"/>
            <a:r>
              <a:rPr lang="fr-FR" sz="1600" dirty="0" smtClean="0"/>
              <a:t>observation o</a:t>
            </a:r>
            <a:endParaRPr lang="fr-FR" sz="1600" dirty="0"/>
          </a:p>
        </p:txBody>
      </p:sp>
      <p:cxnSp>
        <p:nvCxnSpPr>
          <p:cNvPr id="6" name="Connecteur droit 5"/>
          <p:cNvCxnSpPr>
            <a:stCxn id="2" idx="5"/>
          </p:cNvCxnSpPr>
          <p:nvPr/>
        </p:nvCxnSpPr>
        <p:spPr>
          <a:xfrm>
            <a:off x="4868458" y="3857429"/>
            <a:ext cx="63582" cy="147635"/>
          </a:xfrm>
          <a:prstGeom prst="line">
            <a:avLst/>
          </a:prstGeom>
          <a:ln w="12700">
            <a:solidFill>
              <a:schemeClr val="tx1"/>
            </a:solidFill>
            <a:prstDash val="sys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ZoneTexte 15"/>
          <p:cNvSpPr txBox="1"/>
          <p:nvPr/>
        </p:nvSpPr>
        <p:spPr>
          <a:xfrm>
            <a:off x="2411760" y="5445224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 smtClean="0"/>
              <a:t>ν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9429688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3452</TotalTime>
  <Words>90</Words>
  <Application>Microsoft Macintosh PowerPoint</Application>
  <PresentationFormat>Présentation à l'écran (4:3)</PresentationFormat>
  <Paragraphs>29</Paragraphs>
  <Slides>3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3</vt:i4>
      </vt:variant>
    </vt:vector>
  </HeadingPairs>
  <TitlesOfParts>
    <vt:vector size="4" baseType="lpstr">
      <vt:lpstr>Thème Office</vt:lpstr>
      <vt:lpstr>Présentation PowerPoint</vt:lpstr>
      <vt:lpstr>Présentation PowerPoint</vt:lpstr>
      <vt:lpstr>Présentation PowerPoint</vt:lpstr>
    </vt:vector>
  </TitlesOfParts>
  <Company>PSU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Olivier Georgeon</dc:creator>
  <cp:lastModifiedBy>Olivier Georgeon</cp:lastModifiedBy>
  <cp:revision>51</cp:revision>
  <dcterms:created xsi:type="dcterms:W3CDTF">2015-05-01T14:58:37Z</dcterms:created>
  <dcterms:modified xsi:type="dcterms:W3CDTF">2015-07-24T07:45:04Z</dcterms:modified>
</cp:coreProperties>
</file>